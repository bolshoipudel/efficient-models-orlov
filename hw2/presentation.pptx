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B56E82-9EE0-49A6-AFE9-13FFCD11CBA9}">
  <a:tblStyle styleId="{FFB56E82-9EE0-49A6-AFE9-13FFCD11CB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Mon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Mon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686ded73353dd9b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h686ded73353dd9b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1a3f53bd6a94e46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h1a3f53bd6a94e46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1a3f53bd6a94e46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1a3f53bd6a94e46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4e94e1fecc376c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4e94e1fecc376c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xsa_impl_20261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xsa_impl_2026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xsa_setup_oct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xsa_setup_oct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xsa_quality_oct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xsa_quality_oct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xsa_cost_oct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xsa_cost_oct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xsa_limits_oct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xsa_limits_oct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12475" y="1989475"/>
            <a:ext cx="8444100" cy="170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/>
              <a:t>Exclusive Self Attention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Интро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ru" sz="1600">
                <a:solidFill>
                  <a:schemeClr val="dk1"/>
                </a:solidFill>
              </a:rPr>
              <a:t>Главная идея статьи в том, чтобы взять стандартный attention и спроецировать результат на подпространство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ru" sz="1600">
                <a:solidFill>
                  <a:schemeClr val="dk1"/>
                </a:solidFill>
              </a:rPr>
              <a:t>В</a:t>
            </a:r>
            <a:r>
              <a:rPr lang="ru" sz="1600">
                <a:solidFill>
                  <a:schemeClr val="dk1"/>
                </a:solidFill>
              </a:rPr>
              <a:t>ыход attention для каждого токена и каждой головы проецируется на подпространство, ортогональное его собственному value-вектору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Зачем это нужно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В трансформере self-attention агрегирует информацию из контекста, а FFN преобразует представление каждого токена</a:t>
            </a:r>
            <a:r>
              <a:rPr lang="ru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Автор обнаружил, что выход self-attention часто имеет высокое косинусное сходство с собственным value-вектором токена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Автор называет это </a:t>
            </a:r>
            <a:r>
              <a:rPr lang="ru"/>
              <a:t>attention similarity bias. По гипотезе автора, attention частично дублирует позиционную обработку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289025" y="1152475"/>
            <a:ext cx="8474100" cy="28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/>
        </p:nvSpPr>
        <p:spPr>
          <a:xfrm>
            <a:off x="252625" y="187375"/>
            <a:ext cx="83820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chemeClr val="dk2"/>
                </a:solidFill>
              </a:rPr>
              <a:t>Attention similarity bias: экспериментальное наблюдение</a:t>
            </a:r>
            <a:endParaRPr b="1" sz="2300">
              <a:solidFill>
                <a:schemeClr val="dk2"/>
              </a:solidFill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088" y="1152475"/>
            <a:ext cx="8473976" cy="30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409950" y="4063125"/>
            <a:ext cx="83820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</a:rPr>
              <a:t>• Value-векторы разных токенов положительно коррелируют (слева)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</a:rPr>
              <a:t>• Внимание к собственной позиции относительно велико (по центру)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</a:rPr>
              <a:t>• cos(yᵢ, vᵢ) высок и в среднем растёт с глубиной слоя (справа)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520"/>
              <a:t>Как XSA решает эту проблему</a:t>
            </a:r>
            <a:endParaRPr sz="252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206500"/>
            <a:ext cx="4950000" cy="22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333333"/>
                </a:solidFill>
              </a:rPr>
              <a:t>Обычный attention:</a:t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333333"/>
                </a:solidFill>
              </a:rPr>
              <a:t>yᵢ = ∑ aᵢj vj   (j ≤ i)</a:t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333333"/>
                </a:solidFill>
              </a:rPr>
              <a:t>Вычитаем проекцию на собственный vᵢ:</a:t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333333"/>
                </a:solidFill>
              </a:rPr>
              <a:t>zᵢ = yᵢ − [(yᵢᵀvᵢ) / ‖vᵢ‖²] vᵢ</a:t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333333"/>
                </a:solidFill>
              </a:rPr>
              <a:t>Результат: zᵢᵀvᵢ = 0, если vᵢ ≠ 0.</a:t>
            </a:r>
            <a:endParaRPr sz="1700">
              <a:solidFill>
                <a:srgbClr val="333333"/>
              </a:solidFill>
            </a:endParaRPr>
          </a:p>
        </p:txBody>
      </p:sp>
      <p:cxnSp>
        <p:nvCxnSpPr>
          <p:cNvPr id="81" name="Google Shape;81;p17"/>
          <p:cNvCxnSpPr/>
          <p:nvPr/>
        </p:nvCxnSpPr>
        <p:spPr>
          <a:xfrm>
            <a:off x="6286500" y="3175000"/>
            <a:ext cx="2031900" cy="12600"/>
          </a:xfrm>
          <a:prstGeom prst="straightConnector1">
            <a:avLst/>
          </a:prstGeom>
          <a:noFill/>
          <a:ln cap="flat" cmpd="sng" w="31750">
            <a:solidFill>
              <a:srgbClr val="1A66B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7"/>
          <p:cNvCxnSpPr/>
          <p:nvPr/>
        </p:nvCxnSpPr>
        <p:spPr>
          <a:xfrm flipH="1" rot="10800000">
            <a:off x="6286500" y="1651000"/>
            <a:ext cx="1650900" cy="1524000"/>
          </a:xfrm>
          <a:prstGeom prst="straightConnector1">
            <a:avLst/>
          </a:prstGeom>
          <a:noFill/>
          <a:ln cap="flat" cmpd="sng" w="31750">
            <a:solidFill>
              <a:srgbClr val="D9731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7"/>
          <p:cNvCxnSpPr/>
          <p:nvPr/>
        </p:nvCxnSpPr>
        <p:spPr>
          <a:xfrm flipH="1" rot="10800000">
            <a:off x="6286500" y="1651000"/>
            <a:ext cx="12600" cy="1524000"/>
          </a:xfrm>
          <a:prstGeom prst="straightConnector1">
            <a:avLst/>
          </a:prstGeom>
          <a:noFill/>
          <a:ln cap="flat" cmpd="sng" w="31750">
            <a:solidFill>
              <a:srgbClr val="1A99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7"/>
          <p:cNvCxnSpPr/>
          <p:nvPr/>
        </p:nvCxnSpPr>
        <p:spPr>
          <a:xfrm>
            <a:off x="7937500" y="1651000"/>
            <a:ext cx="12600" cy="1524000"/>
          </a:xfrm>
          <a:prstGeom prst="straightConnector1">
            <a:avLst/>
          </a:prstGeom>
          <a:noFill/>
          <a:ln cap="flat" cmpd="sng" w="1270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5" name="Google Shape;85;p17"/>
          <p:cNvCxnSpPr/>
          <p:nvPr/>
        </p:nvCxnSpPr>
        <p:spPr>
          <a:xfrm>
            <a:off x="6286500" y="1651000"/>
            <a:ext cx="1650900" cy="12600"/>
          </a:xfrm>
          <a:prstGeom prst="straightConnector1">
            <a:avLst/>
          </a:prstGeom>
          <a:noFill/>
          <a:ln cap="flat" cmpd="sng" w="12700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6" name="Google Shape;86;p17"/>
          <p:cNvSpPr txBox="1"/>
          <p:nvPr/>
        </p:nvSpPr>
        <p:spPr>
          <a:xfrm>
            <a:off x="8280400" y="3200400"/>
            <a:ext cx="507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A66BF"/>
                </a:solidFill>
              </a:rPr>
              <a:t>vᵢ</a:t>
            </a:r>
            <a:endParaRPr sz="1800">
              <a:solidFill>
                <a:srgbClr val="1A66BF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8001000" y="1422400"/>
            <a:ext cx="507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D9731A"/>
                </a:solidFill>
              </a:rPr>
              <a:t>yᵢ</a:t>
            </a:r>
            <a:endParaRPr sz="1800">
              <a:solidFill>
                <a:srgbClr val="D9731A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5905500" y="1409700"/>
            <a:ext cx="44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A9966"/>
                </a:solidFill>
              </a:rPr>
              <a:t>zᵢ</a:t>
            </a:r>
            <a:endParaRPr sz="1800">
              <a:solidFill>
                <a:srgbClr val="1A9966"/>
              </a:solidFill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349200" y="4011575"/>
            <a:ext cx="84456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</a:rPr>
              <a:t>Для каждого токена в каждой голове внимания у</a:t>
            </a:r>
            <a:r>
              <a:rPr lang="ru">
                <a:solidFill>
                  <a:srgbClr val="333333"/>
                </a:solidFill>
              </a:rPr>
              <a:t>даляем из выхода attention компоненту вдоль собственного value-вектора . Это происходитᵢ </a:t>
            </a:r>
            <a:r>
              <a:rPr lang="ru">
                <a:solidFill>
                  <a:srgbClr val="333333"/>
                </a:solidFill>
              </a:rPr>
              <a:t>до объединения голов и применения Wₒ. Веса внимания при этом не меняются</a:t>
            </a:r>
            <a:endParaRPr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350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 XSA на PyTorch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206500"/>
            <a:ext cx="8370000" cy="16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262626"/>
                </a:solidFill>
                <a:latin typeface="Roboto Mono"/>
                <a:ea typeface="Roboto Mono"/>
                <a:cs typeface="Roboto Mono"/>
                <a:sym typeface="Roboto Mono"/>
              </a:rPr>
              <a:t>import torch.nn.functional as F</a:t>
            </a:r>
            <a:endParaRPr sz="1500">
              <a:solidFill>
                <a:srgbClr val="26262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6262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262626"/>
                </a:solidFill>
                <a:latin typeface="Roboto Mono"/>
                <a:ea typeface="Roboto Mono"/>
                <a:cs typeface="Roboto Mono"/>
                <a:sym typeface="Roboto Mono"/>
              </a:rPr>
              <a:t>Y = F.scaled_dot_product_attention(</a:t>
            </a:r>
            <a:endParaRPr sz="1500">
              <a:solidFill>
                <a:srgbClr val="26262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262626"/>
                </a:solidFill>
                <a:latin typeface="Roboto Mono"/>
                <a:ea typeface="Roboto Mono"/>
                <a:cs typeface="Roboto Mono"/>
                <a:sym typeface="Roboto Mono"/>
              </a:rPr>
              <a:t>    Q, K, V, is_causal=True</a:t>
            </a:r>
            <a:endParaRPr sz="1500">
              <a:solidFill>
                <a:srgbClr val="26262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262626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26262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262626"/>
                </a:solidFill>
                <a:latin typeface="Roboto Mono"/>
                <a:ea typeface="Roboto Mono"/>
                <a:cs typeface="Roboto Mono"/>
                <a:sym typeface="Roboto Mono"/>
              </a:rPr>
              <a:t>Vn = F.normalize(V, dim=-1)</a:t>
            </a:r>
            <a:endParaRPr sz="1500">
              <a:solidFill>
                <a:srgbClr val="26262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262626"/>
                </a:solidFill>
                <a:latin typeface="Roboto Mono"/>
                <a:ea typeface="Roboto Mono"/>
                <a:cs typeface="Roboto Mono"/>
                <a:sym typeface="Roboto Mono"/>
              </a:rPr>
              <a:t>Z = Y - (Y * Vn).sum(dim=-1, keepdim=True) * Vn</a:t>
            </a:r>
            <a:endParaRPr sz="1500">
              <a:solidFill>
                <a:srgbClr val="26262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317500" y="3263900"/>
            <a:ext cx="8508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333333"/>
                </a:solidFill>
              </a:rPr>
              <a:t>Vn — нормализуем каждый value-вектор по последней размерности.</a:t>
            </a:r>
            <a:endParaRPr sz="16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333333"/>
                </a:solidFill>
              </a:rPr>
              <a:t>(Y * Vn).sum(...) – скалярная проекция Y на направление Vn.</a:t>
            </a:r>
            <a:endParaRPr sz="16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333333"/>
                </a:solidFill>
              </a:rPr>
              <a:t>Умножаем на Vn и вычитаем полученную векторную проекцию.</a:t>
            </a:r>
            <a:endParaRPr sz="1600">
              <a:solidFill>
                <a:srgbClr val="333333"/>
              </a:solidFill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317500" y="4495800"/>
            <a:ext cx="85089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</a:rPr>
              <a:t>Q, K, V: [batch, heads, tokens, head_dim]. Отдельная проекция для каждой головы.</a:t>
            </a:r>
            <a:endParaRPr sz="13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</a:rPr>
              <a:t>attention считается как обычно, меняется его выход</a:t>
            </a:r>
            <a:endParaRPr sz="13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Экспериментальная постановка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NanoGPT + RoPE; LayerNorm после embeddings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Модели: 0.7B / 1.4B / 2.7B параметров без embeddings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FineWeb-100BT; GPT-2 tokenizer; validation — 0.05% токенов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Контекст 2048; batch 256; 200K шагов ≈ 100B токенов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AdamW; warmup 2K; cosine decay. LR baseline используется и для XSA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Качество: loss и downstream-задачи</a:t>
            </a:r>
            <a:endParaRPr/>
          </a:p>
        </p:txBody>
      </p:sp>
      <p:graphicFrame>
        <p:nvGraphicFramePr>
          <p:cNvPr id="109" name="Google Shape;109;p20"/>
          <p:cNvGraphicFramePr/>
          <p:nvPr/>
        </p:nvGraphicFramePr>
        <p:xfrm>
          <a:off x="698500" y="323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{FFB56E82-9EE0-49A6-AFE9-13FFCD11CBA9}</a:tableStyleId>
              </a:tblPr>
              <a:tblGrid>
                <a:gridCol w="1936750"/>
                <a:gridCol w="1936750"/>
                <a:gridCol w="1936750"/>
                <a:gridCol w="1936750"/>
              </a:tblGrid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/>
                        <a:t>Размер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/>
                        <a:t>SA, среднее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/>
                        <a:t>XSA, среднее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/>
                        <a:t>Δ, п.п.</a:t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/>
                        <a:t>0.7B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/>
                        <a:t>53.22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/>
                        <a:t>53.48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/>
                        <a:t>+0.26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/>
                        <a:t>1.3B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/>
                        <a:t>56.16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/>
                        <a:t>57.19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/>
                        <a:t>+1.03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/>
                        <a:t>2.7B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/>
                        <a:t>58.06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/>
                        <a:t>59.42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/>
                        <a:t>+1.36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0" name="Google Shape;110;p20"/>
          <p:cNvSpPr txBox="1"/>
          <p:nvPr/>
        </p:nvSpPr>
        <p:spPr>
          <a:xfrm>
            <a:off x="698500" y="4813300"/>
            <a:ext cx="8001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</a:rPr>
              <a:t>Среднее по 8 задачам (accuracy / acc_norm); выигрыш не на каждой задаче.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1016000"/>
            <a:ext cx="6032501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Вычислительные затраты</a:t>
            </a:r>
            <a:endParaRPr/>
          </a:p>
        </p:txBody>
      </p:sp>
      <p:sp>
        <p:nvSpPr>
          <p:cNvPr id="117" name="Google Shape;117;p21"/>
          <p:cNvSpPr txBox="1"/>
          <p:nvPr/>
        </p:nvSpPr>
        <p:spPr>
          <a:xfrm>
            <a:off x="5207000" y="1333500"/>
            <a:ext cx="3619500" cy="3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2"/>
                </a:solidFill>
              </a:rPr>
              <a:t>Бенчмарк: attention + FFN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2"/>
                </a:solidFill>
              </a:rPr>
              <a:t>B200; BF16; batch 32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2"/>
                </a:solidFill>
              </a:rPr>
              <a:t>Forward + backward и пик памяти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2"/>
                </a:solidFill>
              </a:rPr>
              <a:t>Автор оценивает overhead на вычисления XSA как небольшой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500" y="1208297"/>
            <a:ext cx="4635498" cy="3463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Выводы и ограничения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При использовании XSA н</a:t>
            </a:r>
            <a:r>
              <a:rPr lang="ru"/>
              <a:t>иже train/validation loss выше средний downstream-score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Разница увеличивается</a:t>
            </a:r>
            <a:r>
              <a:rPr lang="ru"/>
              <a:t> на длинных контекстах (512–16384)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Проверяли на задаче language modeling с моделями размером до 2.7B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Более крупные модели и другие модальности остались за рамками исследования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